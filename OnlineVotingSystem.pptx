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29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7151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572000" cy="4572000"/>
          </a:xfrm>
          <a:prstGeom prst="ellipse">
            <a:avLst/>
          </a:prstGeom>
          <a:solidFill>
            <a:srgbClr val="5B4FCF">
              <a:alpha val="25000"/>
            </a:srgbClr>
          </a:solidFill>
          <a:ln w="12700">
            <a:solidFill>
              <a:srgbClr val="5B4FC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498080" y="-731520"/>
            <a:ext cx="2743200" cy="2743200"/>
          </a:xfrm>
          <a:prstGeom prst="ellipse">
            <a:avLst/>
          </a:prstGeom>
          <a:solidFill>
            <a:srgbClr val="C850C0">
              <a:alpha val="20000"/>
            </a:srgbClr>
          </a:solidFill>
          <a:ln w="12700">
            <a:solidFill>
              <a:srgbClr val="C850C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7B6FDF">
              <a:alpha val="20000"/>
            </a:srgbClr>
          </a:solidFill>
          <a:ln w="12700">
            <a:solidFill>
              <a:srgbClr val="7B6FD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457200"/>
            <a:ext cx="2926080" cy="347472"/>
          </a:xfrm>
          <a:prstGeom prst="roundRect">
            <a:avLst>
              <a:gd name="adj" fmla="val 26316"/>
            </a:avLst>
          </a:prstGeom>
          <a:solidFill>
            <a:srgbClr val="5B4FCF">
              <a:alpha val="80000"/>
            </a:srgbClr>
          </a:solidFill>
          <a:ln w="12700">
            <a:solidFill>
              <a:srgbClr val="7B6F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4572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C8BFFF"/>
                </a:solidFill>
              </a:rPr>
              <a:t>JAVA PROJECT  |  OOP CONCEPTS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Voting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502920" y="2880360"/>
            <a:ext cx="3840480" cy="36576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3063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4B0"/>
                </a:solidFill>
              </a:rPr>
              <a:t>Presented by  </a:t>
            </a:r>
            <a:r>
              <a:rPr lang="en-US" sz="1300" b="1" dirty="0">
                <a:solidFill>
                  <a:srgbClr val="FFFFFF"/>
                </a:solidFill>
              </a:rPr>
              <a:t>Sudhanshu Deshmukh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429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4B0"/>
                </a:solidFill>
              </a:rPr>
              <a:t>Course  </a:t>
            </a:r>
            <a:r>
              <a:rPr lang="en-US" sz="1300" b="1" dirty="0">
                <a:solidFill>
                  <a:srgbClr val="FFFFFF"/>
                </a:solidFill>
              </a:rPr>
              <a:t>B.Tech CSE (AIML)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794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4B0"/>
                </a:solidFill>
              </a:rPr>
              <a:t>In Collaboration with  </a:t>
            </a:r>
            <a:r>
              <a:rPr lang="en-US" sz="1300" b="1" dirty="0">
                <a:solidFill>
                  <a:srgbClr val="F7C948"/>
                </a:solidFill>
              </a:rPr>
              <a:t>IBM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4160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4B0"/>
                </a:solidFill>
              </a:rPr>
              <a:t>Guided by  </a:t>
            </a:r>
            <a:r>
              <a:rPr lang="en-US" sz="1300" b="1" dirty="0">
                <a:solidFill>
                  <a:srgbClr val="48C9B0"/>
                </a:solidFill>
              </a:rPr>
              <a:t>Santanu Sasmal</a:t>
            </a:r>
            <a:endParaRPr lang="en-US" sz="13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6400800" y="146304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3C"/>
          </a:solidFill>
          <a:ln w="12700">
            <a:solidFill>
              <a:srgbClr val="0F1B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Project Introduction &amp;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0E4F0"/>
            </a:solidFill>
            <a:prstDash val="solid"/>
          </a:ln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4FCF"/>
                </a:solidFill>
              </a:rPr>
              <a:t>What is it?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55"/>
                </a:solidFill>
              </a:rPr>
              <a:t>A console-based Java application that simulates a secure and efficient electoral process. Voters cast votes for candidates, duplicate voting is prevented, and results are tallied automatically.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4FCF"/>
                </a:solidFill>
              </a:rPr>
              <a:t>Key Objectives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4FCF"/>
                </a:solidFill>
              </a:rPr>
              <a:t>1. </a:t>
            </a:r>
            <a:r>
              <a:rPr lang="en-US" sz="1200" dirty="0">
                <a:solidFill>
                  <a:srgbClr val="333355"/>
                </a:solidFill>
              </a:rPr>
              <a:t>Design voting system using Java classes
</a:t>
            </a:r>
            <a:r>
              <a:rPr lang="en-US" sz="1200" b="1" dirty="0">
                <a:solidFill>
                  <a:srgbClr val="5B4FCF"/>
                </a:solidFill>
              </a:rPr>
              <a:t>2. </a:t>
            </a:r>
            <a:r>
              <a:rPr lang="en-US" sz="1200" dirty="0">
                <a:solidFill>
                  <a:srgbClr val="333355"/>
                </a:solidFill>
              </a:rPr>
              <a:t>Implement vote counting logic
</a:t>
            </a:r>
            <a:r>
              <a:rPr lang="en-US" sz="1200" b="1" dirty="0">
                <a:solidFill>
                  <a:srgbClr val="5B4FCF"/>
                </a:solidFill>
              </a:rPr>
              <a:t>3. </a:t>
            </a:r>
            <a:r>
              <a:rPr lang="en-US" sz="1200" dirty="0">
                <a:solidFill>
                  <a:srgbClr val="333355"/>
                </a:solidFill>
              </a:rPr>
              <a:t>Prevent duplicate voting
</a:t>
            </a:r>
            <a:r>
              <a:rPr lang="en-US" sz="1200" b="1" dirty="0">
                <a:solidFill>
                  <a:srgbClr val="5B4FCF"/>
                </a:solidFill>
              </a:rPr>
              <a:t>4. </a:t>
            </a:r>
            <a:r>
              <a:rPr lang="en-US" sz="1200" dirty="0">
                <a:solidFill>
                  <a:srgbClr val="333355"/>
                </a:solidFill>
              </a:rPr>
              <a:t>Display results &amp; declare winner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EEF0FF"/>
          </a:solidFill>
          <a:ln w="12700">
            <a:solidFill>
              <a:srgbClr val="E0E4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435608"/>
            <a:ext cx="347472" cy="3474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303520" y="139903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3C"/>
                </a:solidFill>
              </a:rPr>
              <a:t>Unique Voter ID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92040" y="180136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</a:rPr>
              <a:t>Every voter identified by a unique ID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949440" y="123444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FFF0F8"/>
          </a:solidFill>
          <a:ln w="12700">
            <a:solidFill>
              <a:srgbClr val="E0E4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1435608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498080" y="139903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3C"/>
                </a:solidFill>
              </a:rPr>
              <a:t>No Duplicate Vote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7086600" y="180136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</a:rPr>
              <a:t>HashSet ensures one vote per voter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754880" y="265176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F0FFF8"/>
          </a:solidFill>
          <a:ln w="12700">
            <a:solidFill>
              <a:srgbClr val="E0E4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2852928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303520" y="281635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3C"/>
                </a:solidFill>
              </a:rPr>
              <a:t>Live Results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892040" y="321868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</a:rPr>
              <a:t>Real-time vote count &amp; winner display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949440" y="265176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FFFBEE"/>
          </a:solidFill>
          <a:ln w="12700">
            <a:solidFill>
              <a:srgbClr val="E0E4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2852928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498080" y="281635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3C"/>
                </a:solidFill>
              </a:rPr>
              <a:t>Input Validation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7086600" y="321868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</a:rPr>
              <a:t>Guards against invalid or empty inputs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94B0"/>
                </a:solidFill>
              </a:rPr>
              <a:t>Built with Core Java  |  OOP Principles  |  Console I/O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244"/>
          </a:solidFill>
          <a:ln w="12700">
            <a:solidFill>
              <a:srgbClr val="1622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Workflow &amp; Concepts Used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85800" y="1188720"/>
            <a:ext cx="822960" cy="822960"/>
          </a:xfrm>
          <a:prstGeom prst="ellipse">
            <a:avLst/>
          </a:prstGeom>
          <a:solidFill>
            <a:srgbClr val="5B4FCF"/>
          </a:solidFill>
          <a:ln w="12700">
            <a:solidFill>
              <a:srgbClr val="7B6F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527048" y="1600200"/>
            <a:ext cx="640080" cy="0"/>
          </a:xfrm>
          <a:prstGeom prst="line">
            <a:avLst/>
          </a:prstGeom>
          <a:noFill/>
          <a:ln w="25400">
            <a:solidFill>
              <a:srgbClr val="7B6F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38328" y="2176272"/>
            <a:ext cx="1554480" cy="594360"/>
          </a:xfrm>
          <a:prstGeom prst="roundRect">
            <a:avLst>
              <a:gd name="adj" fmla="val 12308"/>
            </a:avLst>
          </a:prstGeom>
          <a:solidFill>
            <a:srgbClr val="1A2550"/>
          </a:solidFill>
          <a:ln w="12700">
            <a:solidFill>
              <a:srgbClr val="7B6F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38328" y="2176272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C948"/>
                </a:solidFill>
              </a:rPr>
              <a:t>Create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7C948"/>
                </a:solidFill>
              </a:rPr>
              <a:t>Candidate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28346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4B0"/>
                </a:solidFill>
              </a:rPr>
              <a:t>Candidate class with name &amp; voteCount fields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23160" y="1188720"/>
            <a:ext cx="822960" cy="822960"/>
          </a:xfrm>
          <a:prstGeom prst="ellipse">
            <a:avLst/>
          </a:prstGeom>
          <a:solidFill>
            <a:srgbClr val="5B4FCF"/>
          </a:solidFill>
          <a:ln w="12700">
            <a:solidFill>
              <a:srgbClr val="7B6F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423160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264408" y="1600200"/>
            <a:ext cx="640080" cy="0"/>
          </a:xfrm>
          <a:prstGeom prst="line">
            <a:avLst/>
          </a:prstGeom>
          <a:noFill/>
          <a:ln w="25400">
            <a:solidFill>
              <a:srgbClr val="7B6F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075688" y="2176272"/>
            <a:ext cx="1554480" cy="594360"/>
          </a:xfrm>
          <a:prstGeom prst="roundRect">
            <a:avLst>
              <a:gd name="adj" fmla="val 12308"/>
            </a:avLst>
          </a:prstGeom>
          <a:solidFill>
            <a:srgbClr val="1A2550"/>
          </a:solidFill>
          <a:ln w="12700">
            <a:solidFill>
              <a:srgbClr val="7B6F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075688" y="2176272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C948"/>
                </a:solidFill>
              </a:rPr>
              <a:t>Voter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7C948"/>
                </a:solidFill>
              </a:rPr>
              <a:t>Input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0" y="28346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4B0"/>
                </a:solidFill>
              </a:rPr>
              <a:t>Take Voter ID &amp; candidate choice from user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60520" y="1188720"/>
            <a:ext cx="822960" cy="822960"/>
          </a:xfrm>
          <a:prstGeom prst="ellipse">
            <a:avLst/>
          </a:prstGeom>
          <a:solidFill>
            <a:srgbClr val="5B4FCF"/>
          </a:solidFill>
          <a:ln w="12700">
            <a:solidFill>
              <a:srgbClr val="7B6F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160520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001768" y="1600200"/>
            <a:ext cx="640080" cy="0"/>
          </a:xfrm>
          <a:prstGeom prst="line">
            <a:avLst/>
          </a:prstGeom>
          <a:noFill/>
          <a:ln w="25400">
            <a:solidFill>
              <a:srgbClr val="7B6F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813048" y="2176272"/>
            <a:ext cx="1554480" cy="594360"/>
          </a:xfrm>
          <a:prstGeom prst="roundRect">
            <a:avLst>
              <a:gd name="adj" fmla="val 12308"/>
            </a:avLst>
          </a:prstGeom>
          <a:solidFill>
            <a:srgbClr val="1A2550"/>
          </a:solidFill>
          <a:ln w="12700">
            <a:solidFill>
              <a:srgbClr val="7B6F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813048" y="2176272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C948"/>
                </a:solidFill>
              </a:rPr>
              <a:t>Validate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7C948"/>
                </a:solidFill>
              </a:rPr>
              <a:t>Voter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49040" y="28346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4B0"/>
                </a:solidFill>
              </a:rPr>
              <a:t>Check HashSet for duplicate voter ID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897880" y="1188720"/>
            <a:ext cx="822960" cy="822960"/>
          </a:xfrm>
          <a:prstGeom prst="ellipse">
            <a:avLst/>
          </a:prstGeom>
          <a:solidFill>
            <a:srgbClr val="5B4FCF"/>
          </a:solidFill>
          <a:ln w="12700">
            <a:solidFill>
              <a:srgbClr val="7B6F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897880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739128" y="1600200"/>
            <a:ext cx="640080" cy="0"/>
          </a:xfrm>
          <a:prstGeom prst="line">
            <a:avLst/>
          </a:prstGeom>
          <a:noFill/>
          <a:ln w="25400">
            <a:solidFill>
              <a:srgbClr val="7B6F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550408" y="2176272"/>
            <a:ext cx="1554480" cy="594360"/>
          </a:xfrm>
          <a:prstGeom prst="roundRect">
            <a:avLst>
              <a:gd name="adj" fmla="val 12308"/>
            </a:avLst>
          </a:prstGeom>
          <a:solidFill>
            <a:srgbClr val="1A2550"/>
          </a:solidFill>
          <a:ln w="12700">
            <a:solidFill>
              <a:srgbClr val="7B6F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550408" y="2176272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C948"/>
                </a:solidFill>
              </a:rPr>
              <a:t>Cast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7C948"/>
                </a:solidFill>
              </a:rPr>
              <a:t>Vote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0" y="28346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4B0"/>
                </a:solidFill>
              </a:rPr>
              <a:t>Call vote() to increment voteCount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635240" y="1188720"/>
            <a:ext cx="822960" cy="822960"/>
          </a:xfrm>
          <a:prstGeom prst="ellipse">
            <a:avLst/>
          </a:prstGeom>
          <a:solidFill>
            <a:srgbClr val="5B4FCF"/>
          </a:solidFill>
          <a:ln w="12700">
            <a:solidFill>
              <a:srgbClr val="7B6F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635240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7287768" y="2176272"/>
            <a:ext cx="1554480" cy="594360"/>
          </a:xfrm>
          <a:prstGeom prst="roundRect">
            <a:avLst>
              <a:gd name="adj" fmla="val 12308"/>
            </a:avLst>
          </a:prstGeom>
          <a:solidFill>
            <a:srgbClr val="1A2550"/>
          </a:solidFill>
          <a:ln w="12700">
            <a:solidFill>
              <a:srgbClr val="7B6F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7287768" y="2176272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C948"/>
                </a:solidFill>
              </a:rPr>
              <a:t>Show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7C948"/>
                </a:solidFill>
              </a:rPr>
              <a:t>Results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23760" y="28346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4B0"/>
                </a:solidFill>
              </a:rPr>
              <a:t>Display counts &amp; announce winner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65760" y="35661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8C9B0"/>
                </a:solidFill>
              </a:rPr>
              <a:t>OOP Concepts Applied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397764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1A2550"/>
          </a:solidFill>
          <a:ln w="12700">
            <a:solidFill>
              <a:srgbClr val="7B6F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02920" y="40416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Encapsulation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2920" y="433425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B0"/>
                </a:solidFill>
              </a:rPr>
              <a:t>private fields + public getters in Candidate class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91840" y="397764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1A2550"/>
          </a:solidFill>
          <a:ln w="12700">
            <a:solidFill>
              <a:srgbClr val="7B6F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429000" y="40416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Collections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429000" y="433425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B0"/>
                </a:solidFill>
              </a:rPr>
              <a:t>ArrayList for candidates · HashSet for voter IDs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17920" y="397764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1A2550"/>
          </a:solidFill>
          <a:ln w="12700">
            <a:solidFill>
              <a:srgbClr val="7B6F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355080" y="40416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Input Validation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355080" y="433425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B0"/>
                </a:solidFill>
              </a:rPr>
              <a:t>if-else checks prevent invalid &amp; duplicate votes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3C"/>
          </a:solidFill>
          <a:ln w="12700">
            <a:solidFill>
              <a:srgbClr val="0F1B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Sample Output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5120640" cy="36576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3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94360" y="1316736"/>
            <a:ext cx="182880" cy="18288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41248" y="1316736"/>
            <a:ext cx="182880" cy="18288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088136" y="1316736"/>
            <a:ext cx="182880" cy="18288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371600" y="12984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AAA"/>
                </a:solidFill>
              </a:rPr>
              <a:t>VotingSystem.java — Terminal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1664208"/>
            <a:ext cx="48006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4F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30352" y="1833372"/>
            <a:ext cx="48006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7C9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Welcome to Online Voting System  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30352" y="2002536"/>
            <a:ext cx="48006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4F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30352" y="2171700"/>
            <a:ext cx="48006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30352" y="2340864"/>
            <a:ext cx="48006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Vote   2. View Results   3. Exit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0352" y="2510028"/>
            <a:ext cx="48006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your choice: 1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30352" y="2679192"/>
            <a:ext cx="48006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Voter ID: 101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30352" y="2848356"/>
            <a:ext cx="48006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Choose: 1.Alice  2.Bob  3.Charlie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30352" y="3017520"/>
            <a:ext cx="48006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candidate number: 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30352" y="3186684"/>
            <a:ext cx="48006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8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 Vote Cast for Bob!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30352" y="3355848"/>
            <a:ext cx="48006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30352" y="3525012"/>
            <a:ext cx="48006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Voter ID: 101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0352" y="3694176"/>
            <a:ext cx="48006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✖  You have already voted.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30352" y="3863340"/>
            <a:ext cx="48006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30352" y="4032504"/>
            <a:ext cx="48006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7C9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 Final Results =====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30352" y="4201668"/>
            <a:ext cx="48006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Alice: 3 votes  Bob: 5 votes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30352" y="4370832"/>
            <a:ext cx="48006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8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Winner: Bob  🏆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760720" y="1170432"/>
            <a:ext cx="3017520" cy="1078992"/>
          </a:xfrm>
          <a:prstGeom prst="roundRect">
            <a:avLst>
              <a:gd name="adj" fmla="val 8475"/>
            </a:avLst>
          </a:prstGeom>
          <a:solidFill>
            <a:srgbClr val="FFE8E8"/>
          </a:solidFill>
          <a:ln w="12700">
            <a:solidFill>
              <a:srgbClr val="E0E4F0"/>
            </a:solidFill>
            <a:prstDash val="solid"/>
          </a:ln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5897880" y="1353312"/>
            <a:ext cx="292608" cy="29260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263640" y="12984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B3C"/>
                </a:solidFill>
              </a:rPr>
              <a:t>Duplicate Prevention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897880" y="16733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455"/>
                </a:solidFill>
              </a:rPr>
              <a:t>Voter 101 is blocked on second attempt using HashSet lookup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760720" y="2377440"/>
            <a:ext cx="3017520" cy="1078992"/>
          </a:xfrm>
          <a:prstGeom prst="roundRect">
            <a:avLst>
              <a:gd name="adj" fmla="val 8475"/>
            </a:avLst>
          </a:prstGeom>
          <a:solidFill>
            <a:srgbClr val="E8FFF5"/>
          </a:solidFill>
          <a:ln w="12700">
            <a:solidFill>
              <a:srgbClr val="E0E4F0"/>
            </a:solidFill>
            <a:prstDash val="solid"/>
          </a:ln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5897880" y="2560320"/>
            <a:ext cx="292608" cy="292608"/>
          </a:xfrm>
          <a:prstGeom prst="ellipse">
            <a:avLst/>
          </a:prstGeom>
          <a:solidFill>
            <a:srgbClr val="48C9B0"/>
          </a:solidFill>
          <a:ln w="12700">
            <a:solidFill>
              <a:srgbClr val="48C9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263640" y="250545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B3C"/>
                </a:solidFill>
              </a:rPr>
              <a:t>Vote Cast Success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897880" y="2880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455"/>
                </a:solidFill>
              </a:rPr>
              <a:t>Vote instantly recorded and voteCount incremented via vote()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760720" y="3584448"/>
            <a:ext cx="3017520" cy="1078992"/>
          </a:xfrm>
          <a:prstGeom prst="roundRect">
            <a:avLst>
              <a:gd name="adj" fmla="val 8475"/>
            </a:avLst>
          </a:prstGeom>
          <a:solidFill>
            <a:srgbClr val="FFFBE8"/>
          </a:solidFill>
          <a:ln w="12700">
            <a:solidFill>
              <a:srgbClr val="E0E4F0"/>
            </a:solidFill>
            <a:prstDash val="solid"/>
          </a:ln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897880" y="3767328"/>
            <a:ext cx="292608" cy="292608"/>
          </a:xfrm>
          <a:prstGeom prst="ellipse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263640" y="371246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B3C"/>
                </a:solidFill>
              </a:rPr>
              <a:t>Winner Detection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897880" y="40873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455"/>
                </a:solidFill>
              </a:rPr>
              <a:t>Loop compares all voteCount values and prints the highest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244"/>
          </a:solidFill>
          <a:ln w="12700">
            <a:solidFill>
              <a:srgbClr val="1622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Future Scope &amp; Enhancements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2788920" cy="1572768"/>
          </a:xfrm>
          <a:prstGeom prst="roundRect">
            <a:avLst>
              <a:gd name="adj" fmla="val 6977"/>
            </a:avLst>
          </a:prstGeom>
          <a:solidFill>
            <a:srgbClr val="1A2550"/>
          </a:solidFill>
          <a:ln w="12700">
            <a:solidFill>
              <a:srgbClr val="283060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37160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1335024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Admin Login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11480" y="1828800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B0"/>
                </a:solidFill>
              </a:rPr>
              <a:t>Secure admin panel to add/remove candidates and manage elections with role-based access control.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46120" y="1170432"/>
            <a:ext cx="2788920" cy="1572768"/>
          </a:xfrm>
          <a:prstGeom prst="roundRect">
            <a:avLst>
              <a:gd name="adj" fmla="val 6977"/>
            </a:avLst>
          </a:prstGeom>
          <a:solidFill>
            <a:srgbClr val="1A2550"/>
          </a:solidFill>
          <a:ln w="12700">
            <a:solidFill>
              <a:srgbClr val="283060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1371600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67912" y="1335024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GUI with Swing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383280" y="1828800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B0"/>
                </a:solidFill>
              </a:rPr>
              <a:t>Replace console I/O with a Java Swing desktop interface featuring forms, buttons, and live result charts.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217920" y="1170432"/>
            <a:ext cx="2788920" cy="1572768"/>
          </a:xfrm>
          <a:prstGeom prst="roundRect">
            <a:avLst>
              <a:gd name="adj" fmla="val 6977"/>
            </a:avLst>
          </a:prstGeom>
          <a:solidFill>
            <a:srgbClr val="1A2550"/>
          </a:solidFill>
          <a:ln w="12700">
            <a:solidFill>
              <a:srgbClr val="283060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1371600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839712" y="1335024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File / DB Storage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355080" y="1828800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B0"/>
                </a:solidFill>
              </a:rPr>
              <a:t>Persist voter records and results using file handling (JSON/CSV) or a relational database like MySQL.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274320" y="2907792"/>
            <a:ext cx="2788920" cy="1572768"/>
          </a:xfrm>
          <a:prstGeom prst="roundRect">
            <a:avLst>
              <a:gd name="adj" fmla="val 6977"/>
            </a:avLst>
          </a:prstGeom>
          <a:solidFill>
            <a:srgbClr val="1A2550"/>
          </a:solidFill>
          <a:ln w="12700">
            <a:solidFill>
              <a:srgbClr val="283060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" y="3108960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96112" y="3072384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Time-Restricted Voting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411480" y="3566160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B0"/>
                </a:solidFill>
              </a:rPr>
              <a:t>Add a countdown timer that auto-closes polls at a scheduled end time and locks further voting.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3246120" y="2907792"/>
            <a:ext cx="2788920" cy="1572768"/>
          </a:xfrm>
          <a:prstGeom prst="roundRect">
            <a:avLst>
              <a:gd name="adj" fmla="val 6977"/>
            </a:avLst>
          </a:prstGeom>
          <a:solidFill>
            <a:srgbClr val="1A2550"/>
          </a:solidFill>
          <a:ln w="12700">
            <a:solidFill>
              <a:srgbClr val="283060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0712" y="3108960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867912" y="3072384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Multi-Election Support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3383280" y="3566160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B0"/>
                </a:solidFill>
              </a:rPr>
              <a:t>Allow the system to manage multiple concurrent elections with separate candidate pools and voter lists.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6217920" y="2907792"/>
            <a:ext cx="2788920" cy="1572768"/>
          </a:xfrm>
          <a:prstGeom prst="roundRect">
            <a:avLst>
              <a:gd name="adj" fmla="val 6977"/>
            </a:avLst>
          </a:prstGeom>
          <a:solidFill>
            <a:srgbClr val="1A2550"/>
          </a:solidFill>
          <a:ln w="12700">
            <a:solidFill>
              <a:srgbClr val="283060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2512" y="3108960"/>
            <a:ext cx="384048" cy="38404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839712" y="3072384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OTP Verification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6355080" y="3566160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B0"/>
                </a:solidFill>
              </a:rPr>
              <a:t>Integrate mobile OTP or email verification to authenticate voters before allowing vote submission.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5B4FCF">
              <a:alpha val="28000"/>
            </a:srgbClr>
          </a:solidFill>
          <a:ln w="12700">
            <a:solidFill>
              <a:srgbClr val="5B4FC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400800" y="2286000"/>
            <a:ext cx="4114800" cy="4114800"/>
          </a:xfrm>
          <a:prstGeom prst="ellipse">
            <a:avLst/>
          </a:prstGeom>
          <a:solidFill>
            <a:srgbClr val="C850C0">
              <a:alpha val="25000"/>
            </a:srgbClr>
          </a:solidFill>
          <a:ln w="12700">
            <a:solidFill>
              <a:srgbClr val="C850C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657600" y="-1371600"/>
            <a:ext cx="3200400" cy="3200400"/>
          </a:xfrm>
          <a:prstGeom prst="ellipse">
            <a:avLst/>
          </a:prstGeom>
          <a:solidFill>
            <a:srgbClr val="48C9B0">
              <a:alpha val="18000"/>
            </a:srgbClr>
          </a:solidFill>
          <a:ln w="12700">
            <a:solidFill>
              <a:srgbClr val="48C9B0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8229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You!</a:t>
            </a:r>
            <a:endParaRPr lang="en-US" sz="6800" dirty="0"/>
          </a:p>
        </p:txBody>
      </p:sp>
      <p:sp>
        <p:nvSpPr>
          <p:cNvPr id="7" name="Shape 5"/>
          <p:cNvSpPr/>
          <p:nvPr/>
        </p:nvSpPr>
        <p:spPr>
          <a:xfrm>
            <a:off x="3200400" y="2944368"/>
            <a:ext cx="2743200" cy="36576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309067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Sudhanshu Deshmukh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5021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94B0"/>
                </a:solidFill>
              </a:rPr>
              <a:t>B.Tech CSE (AIML)  |  In Collaboration with IBM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8587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8C9B0"/>
                </a:solidFill>
              </a:rPr>
              <a:t>Guided by: Santanu Sasmal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926080" y="4407408"/>
            <a:ext cx="3291840" cy="384048"/>
          </a:xfrm>
          <a:prstGeom prst="roundRect">
            <a:avLst>
              <a:gd name="adj" fmla="val 23810"/>
            </a:avLst>
          </a:prstGeom>
          <a:solidFill>
            <a:srgbClr val="5B4FCF">
              <a:alpha val="75000"/>
            </a:srgbClr>
          </a:solidFill>
          <a:ln w="12700">
            <a:solidFill>
              <a:srgbClr val="7B6F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926080" y="440740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BFFF"/>
                </a:solidFill>
              </a:rPr>
              <a:t>Online Voting System — Core Java &amp; OOP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503</Words>
  <Application>Microsoft Office PowerPoint</Application>
  <PresentationFormat>On-screen Show (16:9)</PresentationFormat>
  <Paragraphs>96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Voting System</dc:title>
  <dc:subject>PptxGenJS Presentation</dc:subject>
  <dc:creator>PptxGenJS</dc:creator>
  <cp:lastModifiedBy>Sudhanshu Deshmukh</cp:lastModifiedBy>
  <cp:revision>1</cp:revision>
  <dcterms:created xsi:type="dcterms:W3CDTF">2026-06-11T02:56:34Z</dcterms:created>
  <dcterms:modified xsi:type="dcterms:W3CDTF">2026-06-11T02:58:31Z</dcterms:modified>
</cp:coreProperties>
</file>